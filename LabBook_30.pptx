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2"/>
    <p:sldId id="289" r:id="rId3"/>
    <p:sldId id="290" r:id="rId4"/>
    <p:sldId id="389" r:id="rId5"/>
    <p:sldId id="296" r:id="rId6"/>
    <p:sldId id="390" r:id="rId7"/>
    <p:sldId id="375" r:id="rId8"/>
    <p:sldId id="391" r:id="rId9"/>
    <p:sldId id="376" r:id="rId10"/>
    <p:sldId id="392" r:id="rId11"/>
    <p:sldId id="377" r:id="rId12"/>
    <p:sldId id="393" r:id="rId13"/>
    <p:sldId id="388" r:id="rId14"/>
    <p:sldId id="394" r:id="rId15"/>
    <p:sldId id="380" r:id="rId16"/>
    <p:sldId id="395" r:id="rId17"/>
    <p:sldId id="381" r:id="rId18"/>
    <p:sldId id="396" r:id="rId19"/>
    <p:sldId id="288" r:id="rId2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75" d="100"/>
          <a:sy n="75" d="100"/>
        </p:scale>
        <p:origin x="1411" y="21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D248F-07DE-DE63-D0BD-B536B6BFC4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09537F-9EAF-7B67-FDDC-5EAF56075F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8362E5-37D4-7435-CF48-160B8A6B32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22C0B9D-7047-3827-1489-5B48F2C7ADC8}"/>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019206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574884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EF9EA-945A-3399-2541-DBC060BB0D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77FDF7-3245-485E-EFFA-8ABD41C515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3DD487-BBC2-8081-23D7-F1A2B522342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519295-FDDE-6BDD-C35D-47F08865167D}"/>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790567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577BE-1695-027A-0680-18145B0A8E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4B8F9D-CB6C-361C-11EC-0CB503D60D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E21B70-BFAD-F627-7BD1-539E7DAFCC2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76061FB-AD84-65BF-AA59-7F2511DDE2E8}"/>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691100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7D391-086D-538D-6A1A-EA7C35844E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55B7AC-0439-04CC-FC21-810D666CBE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F9F4CE-400A-BB00-E59C-5FD8263FD55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A72EA52-A271-6E2F-909B-D4D01DC5B5E2}"/>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267555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09CD2-49A4-AD5A-890F-55020303FF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71810A-8B84-6A58-9DFE-9E26A8BE19E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4D02CB-5166-1191-8F1E-1903A891DDE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85683E1-926E-C677-A690-D4E4B251FBB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379737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6E495-85F4-C9FA-B75E-9A9F0F23A7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1949C3-FDE9-5978-474A-D13CCE00D7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BD8C3A-476B-B19A-6070-82303EE36C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E4CA1FA-EB4E-162C-0981-DA39BE292ECC}"/>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034937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97C12-672B-9D48-1305-F730F2289D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00B724-6FFD-8055-A778-D2E6DF3577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BD90A0-84C8-7E96-C68C-BDF64D87F2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51D9BBE-705C-3C0E-CAA7-5969FE2645CF}"/>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411675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AF9FF-262F-0146-D683-87C5677187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AEED02-2B12-89BB-B69A-63FAB96D97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CC7B0C-ECA6-C9A6-1379-40ECC25EB2C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5D5B52B-94D2-87B8-9E9B-159E96727C23}"/>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195351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and comment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E2AF4-D9F3-FA81-FA87-765A6650AAA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512CD26-DF99-C2E3-7112-313B4E90B01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B7EB88-6ECD-E8EB-5BEA-5FD97C4B0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D965AEE-9787-545D-E349-402E7F0C3090}"/>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C51FADE2-EF06-9D24-178A-A749242201C6}"/>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pic>
        <p:nvPicPr>
          <p:cNvPr id="8" name="Imagen 7">
            <a:extLst>
              <a:ext uri="{FF2B5EF4-FFF2-40B4-BE49-F238E27FC236}">
                <a16:creationId xmlns:a16="http://schemas.microsoft.com/office/drawing/2014/main" id="{806CD210-3C54-6D6B-D628-84848DEF2F9A}"/>
              </a:ext>
            </a:extLst>
          </p:cNvPr>
          <p:cNvPicPr>
            <a:picLocks noChangeAspect="1"/>
          </p:cNvPicPr>
          <p:nvPr/>
        </p:nvPicPr>
        <p:blipFill>
          <a:blip r:embed="rId4"/>
          <a:stretch>
            <a:fillRect/>
          </a:stretch>
        </p:blipFill>
        <p:spPr>
          <a:xfrm>
            <a:off x="2997095" y="969365"/>
            <a:ext cx="6371820" cy="3570287"/>
          </a:xfrm>
          <a:prstGeom prst="rect">
            <a:avLst/>
          </a:prstGeom>
        </p:spPr>
      </p:pic>
      <p:sp>
        <p:nvSpPr>
          <p:cNvPr id="12" name="CuadroTexto 11">
            <a:extLst>
              <a:ext uri="{FF2B5EF4-FFF2-40B4-BE49-F238E27FC236}">
                <a16:creationId xmlns:a16="http://schemas.microsoft.com/office/drawing/2014/main" id="{5600B2A0-4FEE-19A9-EB4D-F941239B61CC}"/>
              </a:ext>
            </a:extLst>
          </p:cNvPr>
          <p:cNvSpPr txBox="1"/>
          <p:nvPr/>
        </p:nvSpPr>
        <p:spPr>
          <a:xfrm>
            <a:off x="1402080" y="4602060"/>
            <a:ext cx="9281160" cy="1569660"/>
          </a:xfrm>
          <a:prstGeom prst="rect">
            <a:avLst/>
          </a:prstGeom>
          <a:noFill/>
        </p:spPr>
        <p:txBody>
          <a:bodyPr wrap="square">
            <a:spAutoFit/>
          </a:bodyPr>
          <a:lstStyle/>
          <a:p>
            <a:pPr algn="just"/>
            <a:r>
              <a:rPr lang="en-US" sz="1200" dirty="0">
                <a:latin typeface="Arial" panose="020B0604020202020204" pitchFamily="34" charset="0"/>
                <a:cs typeface="Arial" panose="020B0604020202020204" pitchFamily="34" charset="0"/>
              </a:rPr>
              <a:t>Las </a:t>
            </a:r>
            <a:r>
              <a:rPr lang="en-US" sz="1200" dirty="0" err="1">
                <a:latin typeface="Arial" panose="020B0604020202020204" pitchFamily="34" charset="0"/>
                <a:cs typeface="Arial" panose="020B0604020202020204" pitchFamily="34" charset="0"/>
              </a:rPr>
              <a:t>herramientas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usadas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Compact Models del coupler y de la </a:t>
            </a:r>
            <a:r>
              <a:rPr lang="en-US" sz="1200" dirty="0" err="1">
                <a:latin typeface="Arial" panose="020B0604020202020204" pitchFamily="34" charset="0"/>
                <a:cs typeface="Arial" panose="020B0604020202020204" pitchFamily="34" charset="0"/>
              </a:rPr>
              <a:t>silicon_waveguide</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Circuit Model,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es la </a:t>
            </a:r>
            <a:r>
              <a:rPr lang="en-US" sz="1200" dirty="0" err="1">
                <a:latin typeface="Arial" panose="020B0604020202020204" pitchFamily="34" charset="0"/>
                <a:cs typeface="Arial" panose="020B0604020202020204" pitchFamily="34" charset="0"/>
              </a:rPr>
              <a:t>estructura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define de forma modular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interconectan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fisicamente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acopladores</a:t>
            </a:r>
            <a:r>
              <a:rPr lang="en-US" sz="1200" dirty="0">
                <a:latin typeface="Arial" panose="020B0604020202020204" pitchFamily="34" charset="0"/>
                <a:cs typeface="Arial" panose="020B0604020202020204" pitchFamily="34" charset="0"/>
              </a:rPr>
              <a:t> y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realizar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con Sax Library, hay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modelos</a:t>
            </a:r>
            <a:r>
              <a:rPr lang="en-US" sz="1200" dirty="0">
                <a:latin typeface="Arial" panose="020B0604020202020204" pitchFamily="34" charset="0"/>
                <a:cs typeface="Arial" panose="020B0604020202020204" pitchFamily="34" charset="0"/>
              </a:rPr>
              <a:t> coupler y </a:t>
            </a:r>
            <a:r>
              <a:rPr lang="en-US" sz="1200" dirty="0" err="1">
                <a:latin typeface="Arial" panose="020B0604020202020204" pitchFamily="34" charset="0"/>
                <a:cs typeface="Arial" panose="020B0604020202020204" pitchFamily="34" charset="0"/>
              </a:rPr>
              <a:t>silicon_waveguide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interconectarlos</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sax.circuit</a:t>
            </a:r>
            <a:r>
              <a:rPr lang="en-US" sz="1200" dirty="0">
                <a:latin typeface="Arial" panose="020B0604020202020204" pitchFamily="34" charset="0"/>
                <a:cs typeface="Arial" panose="020B0604020202020204" pitchFamily="34" charset="0"/>
              </a:rPr>
              <a:t>, definer un vector de </a:t>
            </a:r>
            <a:r>
              <a:rPr lang="en-US" sz="1200" dirty="0" err="1">
                <a:latin typeface="Arial" panose="020B0604020202020204" pitchFamily="34" charset="0"/>
                <a:cs typeface="Arial" panose="020B0604020202020204" pitchFamily="34" charset="0"/>
              </a:rPr>
              <a:t>barrido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y pasar las variables </a:t>
            </a:r>
            <a:r>
              <a:rPr lang="en-US" sz="1200" dirty="0" err="1">
                <a:latin typeface="Arial" panose="020B0604020202020204" pitchFamily="34" charset="0"/>
                <a:cs typeface="Arial" panose="020B0604020202020204" pitchFamily="34" charset="0"/>
              </a:rPr>
              <a:t>globales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especifican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enunciado</a:t>
            </a:r>
            <a:r>
              <a:rPr lang="en-US" sz="1200" dirty="0">
                <a:latin typeface="Arial" panose="020B0604020202020204" pitchFamily="34" charset="0"/>
                <a:cs typeface="Arial" panose="020B0604020202020204" pitchFamily="34" charset="0"/>
              </a:rPr>
              <a:t> (dL, </a:t>
            </a:r>
            <a:r>
              <a:rPr lang="en-US" sz="1200" dirty="0" err="1">
                <a:latin typeface="Arial" panose="020B0604020202020204" pitchFamily="34" charset="0"/>
                <a:cs typeface="Arial" panose="020B0604020202020204" pitchFamily="34" charset="0"/>
              </a:rPr>
              <a:t>L_base</a:t>
            </a:r>
            <a:r>
              <a:rPr lang="en-US" sz="1200" dirty="0">
                <a:latin typeface="Arial" panose="020B0604020202020204" pitchFamily="34" charset="0"/>
                <a:cs typeface="Arial" panose="020B0604020202020204" pitchFamily="34" charset="0"/>
              </a:rPr>
              <a:t> …) y </a:t>
            </a:r>
            <a:r>
              <a:rPr lang="en-US" sz="1200" dirty="0" err="1">
                <a:latin typeface="Arial" panose="020B0604020202020204" pitchFamily="34" charset="0"/>
                <a:cs typeface="Arial" panose="020B0604020202020204" pitchFamily="34" charset="0"/>
              </a:rPr>
              <a:t>finalmente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ejecuta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circuito</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es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circuito</a:t>
            </a:r>
            <a:r>
              <a:rPr lang="en-US" sz="1200" dirty="0">
                <a:latin typeface="Arial" panose="020B0604020202020204" pitchFamily="34" charset="0"/>
                <a:cs typeface="Arial" panose="020B0604020202020204" pitchFamily="34" charset="0"/>
              </a:rPr>
              <a:t>. Como la dL = 0, La H01 se </a:t>
            </a:r>
            <a:r>
              <a:rPr lang="en-US" sz="1200" dirty="0" err="1">
                <a:latin typeface="Arial" panose="020B0604020202020204" pitchFamily="34" charset="0"/>
                <a:cs typeface="Arial" panose="020B0604020202020204" pitchFamily="34" charset="0"/>
              </a:rPr>
              <a:t>mantiene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1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todas</a:t>
            </a:r>
            <a:r>
              <a:rPr lang="en-US" sz="1200" dirty="0">
                <a:latin typeface="Arial" panose="020B0604020202020204" pitchFamily="34" charset="0"/>
                <a:cs typeface="Arial" panose="020B0604020202020204" pitchFamily="34" charset="0"/>
              </a:rPr>
              <a:t> las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(y 0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dB),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indica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100% de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óptica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transfiere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a:t>
            </a:r>
            <a:r>
              <a:rPr lang="en-US" sz="1200" dirty="0">
                <a:latin typeface="Arial" panose="020B0604020202020204" pitchFamily="34" charset="0"/>
                <a:cs typeface="Arial" panose="020B0604020202020204" pitchFamily="34" charset="0"/>
              </a:rPr>
              <a:t> cruzado,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 H00 es de 0, </a:t>
            </a:r>
            <a:r>
              <a:rPr lang="en-US" sz="1200" dirty="0" err="1">
                <a:latin typeface="Arial" panose="020B0604020202020204" pitchFamily="34" charset="0"/>
                <a:cs typeface="Arial" panose="020B0604020202020204" pitchFamily="34" charset="0"/>
              </a:rPr>
              <a:t>indicando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no sale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directo</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8048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239518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3F35-C175-2C62-A4B0-9EDD5E63E7C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FDF4B84-9EC6-2BB0-072B-0E39A5745CB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0A6EA51-A4E2-2AE0-7BDB-3EFB47F41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12EC47E-A705-A249-EA2F-6CAB7BAB8965}"/>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360F1FE9-BE03-40A1-DA43-CEEADA97C67D}"/>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pic>
        <p:nvPicPr>
          <p:cNvPr id="4" name="Imagen 3">
            <a:extLst>
              <a:ext uri="{FF2B5EF4-FFF2-40B4-BE49-F238E27FC236}">
                <a16:creationId xmlns:a16="http://schemas.microsoft.com/office/drawing/2014/main" id="{C0DD8B6F-2550-8F2C-34B8-0C7B83B9DF1F}"/>
              </a:ext>
            </a:extLst>
          </p:cNvPr>
          <p:cNvPicPr>
            <a:picLocks noChangeAspect="1"/>
          </p:cNvPicPr>
          <p:nvPr/>
        </p:nvPicPr>
        <p:blipFill>
          <a:blip r:embed="rId4"/>
          <a:stretch>
            <a:fillRect/>
          </a:stretch>
        </p:blipFill>
        <p:spPr>
          <a:xfrm>
            <a:off x="2936875" y="1022012"/>
            <a:ext cx="6318250" cy="3459287"/>
          </a:xfrm>
          <a:prstGeom prst="rect">
            <a:avLst/>
          </a:prstGeom>
        </p:spPr>
      </p:pic>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2774CA50-A850-FEBA-BF8D-1FC3929E1E86}"/>
                  </a:ext>
                </a:extLst>
              </p:cNvPr>
              <p:cNvSpPr txBox="1"/>
              <p:nvPr/>
            </p:nvSpPr>
            <p:spPr>
              <a:xfrm>
                <a:off x="1402080" y="4602060"/>
                <a:ext cx="9281160" cy="1233928"/>
              </a:xfrm>
              <a:prstGeom prst="rect">
                <a:avLst/>
              </a:prstGeom>
              <a:noFill/>
            </p:spPr>
            <p:txBody>
              <a:bodyPr wrap="square">
                <a:spAutoFit/>
              </a:bodyPr>
              <a:lstStyle/>
              <a:p>
                <a:pPr algn="just"/>
                <a:r>
                  <a:rPr lang="en-US" sz="1200" dirty="0">
                    <a:latin typeface="Arial" panose="020B0604020202020204" pitchFamily="34" charset="0"/>
                    <a:cs typeface="Arial" panose="020B0604020202020204" pitchFamily="34" charset="0"/>
                  </a:rPr>
                  <a:t>Ahora </a:t>
                </a:r>
                <a:r>
                  <a:rPr lang="en-US" sz="1200" dirty="0" err="1">
                    <a:latin typeface="Arial" panose="020B0604020202020204" pitchFamily="34" charset="0"/>
                    <a:cs typeface="Arial" panose="020B0604020202020204" pitchFamily="34" charset="0"/>
                  </a:rPr>
                  <a:t>obervamos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respuestas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perfectamente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simétricas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decir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H00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pico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H01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viceversa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separación</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picos</a:t>
                </a:r>
                <a:r>
                  <a:rPr lang="en-US" sz="1200" dirty="0">
                    <a:latin typeface="Arial" panose="020B0604020202020204" pitchFamily="34" charset="0"/>
                    <a:cs typeface="Arial" panose="020B0604020202020204" pitchFamily="34" charset="0"/>
                  </a:rPr>
                  <a:t> es de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10 nm, </a:t>
                </a:r>
                <a:r>
                  <a:rPr lang="en-US" sz="1200" dirty="0" err="1">
                    <a:latin typeface="Arial" panose="020B0604020202020204" pitchFamily="34" charset="0"/>
                    <a:cs typeface="Arial" panose="020B0604020202020204" pitchFamily="34" charset="0"/>
                  </a:rPr>
                  <a:t>correspondiendo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al valor de ls FSR </a:t>
                </a:r>
                <a:r>
                  <a:rPr lang="en-US" sz="1200" dirty="0" err="1">
                    <a:latin typeface="Arial" panose="020B0604020202020204" pitchFamily="34" charset="0"/>
                    <a:cs typeface="Arial" panose="020B0604020202020204" pitchFamily="34" charset="0"/>
                  </a:rPr>
                  <a:t>teórica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cuyo</a:t>
                </a:r>
                <a:r>
                  <a:rPr lang="en-US" sz="1200" dirty="0">
                    <a:latin typeface="Arial" panose="020B0604020202020204" pitchFamily="34" charset="0"/>
                    <a:cs typeface="Arial" panose="020B0604020202020204" pitchFamily="34" charset="0"/>
                  </a:rPr>
                  <a:t> valor es de 12 nm </a:t>
                </a:r>
                <a:r>
                  <a:rPr lang="en-US" sz="1200" dirty="0" err="1">
                    <a:latin typeface="Arial" panose="020B0604020202020204" pitchFamily="34" charset="0"/>
                    <a:cs typeface="Arial" panose="020B0604020202020204" pitchFamily="34" charset="0"/>
                  </a:rPr>
                  <a:t>usando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siguiente</a:t>
                </a:r>
                <a:r>
                  <a:rPr lang="en-US" sz="1200" dirty="0">
                    <a:latin typeface="Arial" panose="020B0604020202020204" pitchFamily="34" charset="0"/>
                    <a:cs typeface="Arial" panose="020B0604020202020204" pitchFamily="34" charset="0"/>
                  </a:rPr>
                  <a:t> expression con ng = 2, </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 = 1.55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100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sSup>
                            <m:sSupPr>
                              <m:ctrlPr>
                                <a:rPr lang="el-GR" sz="1200" i="1" smtClean="0">
                                  <a:latin typeface="Cambria Math" panose="02040503050406030204" pitchFamily="18" charset="0"/>
                                  <a:cs typeface="Arial" panose="020B0604020202020204" pitchFamily="34" charset="0"/>
                                </a:rPr>
                              </m:ctrlPr>
                            </m:sSupPr>
                            <m:e>
                              <m:r>
                                <a:rPr lang="el-GR" sz="1200" i="1">
                                  <a:latin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𝑛𝑔</m:t>
                          </m:r>
                          <m:r>
                            <a:rPr lang="es-ES" sz="1200" b="0" i="1" smtClean="0">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𝑑𝐿</m:t>
                          </m:r>
                        </m:den>
                      </m:f>
                    </m:oMath>
                  </m:oMathPara>
                </a14:m>
                <a:endParaRPr lang="en-US" sz="1200" dirty="0">
                  <a:latin typeface="Arial" panose="020B0604020202020204" pitchFamily="34" charset="0"/>
                  <a:cs typeface="Arial" panose="020B0604020202020204" pitchFamily="34" charset="0"/>
                </a:endParaRPr>
              </a:p>
            </p:txBody>
          </p:sp>
        </mc:Choice>
        <mc:Fallback>
          <p:sp>
            <p:nvSpPr>
              <p:cNvPr id="5" name="CuadroTexto 4">
                <a:extLst>
                  <a:ext uri="{FF2B5EF4-FFF2-40B4-BE49-F238E27FC236}">
                    <a16:creationId xmlns:a16="http://schemas.microsoft.com/office/drawing/2014/main" id="{2774CA50-A850-FEBA-BF8D-1FC3929E1E86}"/>
                  </a:ext>
                </a:extLst>
              </p:cNvPr>
              <p:cNvSpPr txBox="1">
                <a:spLocks noRot="1" noChangeAspect="1" noMove="1" noResize="1" noEditPoints="1" noAdjustHandles="1" noChangeArrowheads="1" noChangeShapeType="1" noTextEdit="1"/>
              </p:cNvSpPr>
              <p:nvPr/>
            </p:nvSpPr>
            <p:spPr>
              <a:xfrm>
                <a:off x="1402080" y="4602060"/>
                <a:ext cx="9281160" cy="1233928"/>
              </a:xfrm>
              <a:prstGeom prst="rect">
                <a:avLst/>
              </a:prstGeom>
              <a:blipFill>
                <a:blip r:embed="rId5"/>
                <a:stretch>
                  <a:fillRect t="-990"/>
                </a:stretch>
              </a:blipFill>
            </p:spPr>
            <p:txBody>
              <a:bodyPr/>
              <a:lstStyle/>
              <a:p>
                <a:r>
                  <a:rPr lang="es-ES">
                    <a:noFill/>
                  </a:rPr>
                  <a:t> </a:t>
                </a:r>
              </a:p>
            </p:txBody>
          </p:sp>
        </mc:Fallback>
      </mc:AlternateContent>
    </p:spTree>
    <p:extLst>
      <p:ext uri="{BB962C8B-B14F-4D97-AF65-F5344CB8AC3E}">
        <p14:creationId xmlns:p14="http://schemas.microsoft.com/office/powerpoint/2010/main" val="77803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017546" y="2478160"/>
            <a:ext cx="2996974" cy="1015663"/>
          </a:xfrm>
          <a:prstGeom prst="rect">
            <a:avLst/>
          </a:prstGeom>
          <a:noFill/>
        </p:spPr>
        <p:txBody>
          <a:bodyPr wrap="none" rtlCol="0">
            <a:spAutoFit/>
          </a:bodyPr>
          <a:lstStyle/>
          <a:p>
            <a:pPr algn="ctr"/>
            <a:r>
              <a:rPr lang="en-US" sz="2000" dirty="0"/>
              <a:t>Your design justification</a:t>
            </a:r>
          </a:p>
          <a:p>
            <a:pPr algn="ctr"/>
            <a:endParaRPr lang="en-US" sz="2000" dirty="0"/>
          </a:p>
          <a:p>
            <a:pPr algn="ctr"/>
            <a:r>
              <a:rPr lang="en-US" sz="2000" dirty="0"/>
              <a:t>Write equations / numbers</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spTree>
    <p:extLst>
      <p:ext uri="{BB962C8B-B14F-4D97-AF65-F5344CB8AC3E}">
        <p14:creationId xmlns:p14="http://schemas.microsoft.com/office/powerpoint/2010/main" val="122265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80D99-7DD5-C297-F43B-4E49D6D287D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C868064-BAAA-5D54-C17E-EB55B8A6B7E6}"/>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#2 – MZI Design</a:t>
            </a:r>
          </a:p>
        </p:txBody>
      </p:sp>
      <p:pic>
        <p:nvPicPr>
          <p:cNvPr id="83" name="Gráfico 82">
            <a:extLst>
              <a:ext uri="{FF2B5EF4-FFF2-40B4-BE49-F238E27FC236}">
                <a16:creationId xmlns:a16="http://schemas.microsoft.com/office/drawing/2014/main" id="{2C8069CE-E6BE-24CF-7E95-D3FA52D0F4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73B68D2-BD5C-FEB1-54B8-74C56D3C2DC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F91EF5E4-66CE-19D9-437C-424D2C176BD9}"/>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CuadroTexto 4">
            <a:extLst>
              <a:ext uri="{FF2B5EF4-FFF2-40B4-BE49-F238E27FC236}">
                <a16:creationId xmlns:a16="http://schemas.microsoft.com/office/drawing/2014/main" id="{47F5CBB8-B45E-168F-9C41-D6B795C8BBCF}"/>
              </a:ext>
            </a:extLst>
          </p:cNvPr>
          <p:cNvSpPr txBox="1"/>
          <p:nvPr/>
        </p:nvSpPr>
        <p:spPr>
          <a:xfrm>
            <a:off x="1402080" y="4602060"/>
            <a:ext cx="9281160" cy="830997"/>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En este caso se fija la FSR a 10 nm, por lo que la distancia entre picos será esa misma distancia. Para calcular la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necesaria para obtener esa distancia entre picos, se usa la misma expresión de la diapositiva anterior pero despejando en este caso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obteniendo un valor de 120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Los valores y la expresión usados para su cálculo se indican a continuación: </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 = 1.55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FSR = 10 nm, ng = 2</a:t>
            </a:r>
          </a:p>
          <a:p>
            <a:pPr algn="just"/>
            <a:endParaRPr lang="es-ES" sz="1200" dirty="0">
              <a:latin typeface="Arial" panose="020B0604020202020204" pitchFamily="34" charset="0"/>
              <a:cs typeface="Arial" panose="020B0604020202020204" pitchFamily="34" charset="0"/>
            </a:endParaRPr>
          </a:p>
        </p:txBody>
      </p:sp>
      <p:pic>
        <p:nvPicPr>
          <p:cNvPr id="2" name="Imagen 1">
            <a:extLst>
              <a:ext uri="{FF2B5EF4-FFF2-40B4-BE49-F238E27FC236}">
                <a16:creationId xmlns:a16="http://schemas.microsoft.com/office/drawing/2014/main" id="{4EAC5C74-F608-B1AA-2F69-F49ACD672B66}"/>
              </a:ext>
            </a:extLst>
          </p:cNvPr>
          <p:cNvPicPr>
            <a:picLocks noChangeAspect="1"/>
          </p:cNvPicPr>
          <p:nvPr/>
        </p:nvPicPr>
        <p:blipFill>
          <a:blip r:embed="rId4"/>
          <a:stretch>
            <a:fillRect/>
          </a:stretch>
        </p:blipFill>
        <p:spPr>
          <a:xfrm>
            <a:off x="3038355" y="1268106"/>
            <a:ext cx="5840969" cy="3197972"/>
          </a:xfrm>
          <a:prstGeom prst="rect">
            <a:avLst/>
          </a:prstGeom>
        </p:spPr>
      </p:pic>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B953C215-3A62-1899-BFC3-1B8B2ADF96BC}"/>
                  </a:ext>
                </a:extLst>
              </p:cNvPr>
              <p:cNvSpPr txBox="1"/>
              <p:nvPr/>
            </p:nvSpPr>
            <p:spPr>
              <a:xfrm>
                <a:off x="2895600" y="5248327"/>
                <a:ext cx="6126480" cy="495264"/>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𝑑𝐿</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sSup>
                            <m:sSupPr>
                              <m:ctrlPr>
                                <a:rPr lang="el-GR" sz="1200" i="1" smtClean="0">
                                  <a:latin typeface="Cambria Math" panose="02040503050406030204" pitchFamily="18" charset="0"/>
                                  <a:cs typeface="Arial" panose="020B0604020202020204" pitchFamily="34" charset="0"/>
                                </a:rPr>
                              </m:ctrlPr>
                            </m:sSupPr>
                            <m:e>
                              <m:r>
                                <a:rPr lang="el-GR" sz="1200" i="1">
                                  <a:latin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𝑛𝑔</m:t>
                          </m:r>
                          <m:r>
                            <a:rPr lang="es-ES" sz="1200" b="0" i="1" smtClean="0">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𝐹𝑆𝑅</m:t>
                          </m:r>
                        </m:den>
                      </m:f>
                    </m:oMath>
                  </m:oMathPara>
                </a14:m>
                <a:endParaRPr lang="en-US" sz="1200" dirty="0">
                  <a:latin typeface="Arial" panose="020B0604020202020204" pitchFamily="34" charset="0"/>
                  <a:cs typeface="Arial" panose="020B0604020202020204" pitchFamily="34" charset="0"/>
                </a:endParaRPr>
              </a:p>
            </p:txBody>
          </p:sp>
        </mc:Choice>
        <mc:Fallback>
          <p:sp>
            <p:nvSpPr>
              <p:cNvPr id="7" name="CuadroTexto 6">
                <a:extLst>
                  <a:ext uri="{FF2B5EF4-FFF2-40B4-BE49-F238E27FC236}">
                    <a16:creationId xmlns:a16="http://schemas.microsoft.com/office/drawing/2014/main" id="{B953C215-3A62-1899-BFC3-1B8B2ADF96BC}"/>
                  </a:ext>
                </a:extLst>
              </p:cNvPr>
              <p:cNvSpPr txBox="1">
                <a:spLocks noRot="1" noChangeAspect="1" noMove="1" noResize="1" noEditPoints="1" noAdjustHandles="1" noChangeArrowheads="1" noChangeShapeType="1" noTextEdit="1"/>
              </p:cNvSpPr>
              <p:nvPr/>
            </p:nvSpPr>
            <p:spPr>
              <a:xfrm>
                <a:off x="2895600" y="5248327"/>
                <a:ext cx="6126480" cy="495264"/>
              </a:xfrm>
              <a:prstGeom prst="rect">
                <a:avLst/>
              </a:prstGeom>
              <a:blipFill>
                <a:blip r:embed="rId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14619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9</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spTree>
    <p:extLst>
      <p:ext uri="{BB962C8B-B14F-4D97-AF65-F5344CB8AC3E}">
        <p14:creationId xmlns:p14="http://schemas.microsoft.com/office/powerpoint/2010/main" val="147571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D3E4D-25D9-3E36-B36A-4F92097E75C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16275E7-52BA-1AC4-B020-628FFAEBDB1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#3 – Delay imbalance with loss</a:t>
            </a:r>
          </a:p>
        </p:txBody>
      </p:sp>
      <p:pic>
        <p:nvPicPr>
          <p:cNvPr id="83" name="Gráfico 82">
            <a:extLst>
              <a:ext uri="{FF2B5EF4-FFF2-40B4-BE49-F238E27FC236}">
                <a16:creationId xmlns:a16="http://schemas.microsoft.com/office/drawing/2014/main" id="{A6DACDB8-F593-501D-DEF4-9102CA64B9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4943695-E26B-6AB6-328C-CC014377DCE2}"/>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1B33AAB4-58E3-F792-1F45-9B7F5728EB27}"/>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pic>
        <p:nvPicPr>
          <p:cNvPr id="4" name="Imagen 3">
            <a:extLst>
              <a:ext uri="{FF2B5EF4-FFF2-40B4-BE49-F238E27FC236}">
                <a16:creationId xmlns:a16="http://schemas.microsoft.com/office/drawing/2014/main" id="{C8BCFD00-C14B-DF29-B180-AC955E35A9AF}"/>
              </a:ext>
            </a:extLst>
          </p:cNvPr>
          <p:cNvPicPr>
            <a:picLocks noChangeAspect="1"/>
          </p:cNvPicPr>
          <p:nvPr/>
        </p:nvPicPr>
        <p:blipFill>
          <a:blip r:embed="rId4"/>
          <a:stretch>
            <a:fillRect/>
          </a:stretch>
        </p:blipFill>
        <p:spPr>
          <a:xfrm>
            <a:off x="5791200" y="1213031"/>
            <a:ext cx="5987425" cy="4782759"/>
          </a:xfrm>
          <a:prstGeom prst="rect">
            <a:avLst/>
          </a:prstGeom>
        </p:spPr>
      </p:pic>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44B58534-54A6-9E43-8205-5457D4504CCA}"/>
                  </a:ext>
                </a:extLst>
              </p:cNvPr>
              <p:cNvSpPr txBox="1"/>
              <p:nvPr/>
            </p:nvSpPr>
            <p:spPr>
              <a:xfrm>
                <a:off x="228600" y="1371600"/>
                <a:ext cx="5410201" cy="3977243"/>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En este caso, la función de transferencia presenta un patrón de interferencia oscilatorio de muy alta frecuencia, ya que el desbalance de longitud entre los brazos es muy grande (56960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reduciendo drásticamente el FSR. También se observa que las curvas ya no alcanzan el máximo de 1.0 en la escala lineal debido a la atenuación de 4 dB/cm.</a:t>
                </a:r>
              </a:p>
              <a:p>
                <a:pPr algn="just"/>
                <a:r>
                  <a:rPr lang="es-ES" sz="1200" dirty="0">
                    <a:latin typeface="Arial" panose="020B0604020202020204" pitchFamily="34" charset="0"/>
                    <a:cs typeface="Arial" panose="020B0604020202020204" pitchFamily="34" charset="0"/>
                  </a:rPr>
                  <a:t>En el caso 1 se observa patrón de interferencia, ya que la vibración oscila visiblemente entre 0.19 y 0.26. Al principio viaja la misma potencia inicial por ambos brazos (Ka = 0.5), pero como hay un brazo mucho m-as largo que otro, al llegar al acoplador de salida las amplitudes están muy desbalanceadas, por lo que la interferencia destructiva no es perfecta</a:t>
                </a:r>
              </a:p>
              <a:p>
                <a:pPr algn="just"/>
                <a:r>
                  <a:rPr lang="es-ES" sz="1200" dirty="0">
                    <a:latin typeface="Arial" panose="020B0604020202020204" pitchFamily="34" charset="0"/>
                    <a:cs typeface="Arial" panose="020B0604020202020204" pitchFamily="34" charset="0"/>
                  </a:rPr>
                  <a:t>En el caso 2, hay interferencia pero muy atenuada. Al principio el 90% de la luz viaja por el brazo corto (Ka = 0.1), provocando un desbalance de salida mucho mayor, por lo que el brazo corto domina por completo. Al haber tan poca luz en el brazo largo, la curva se vuelve más plana.</a:t>
                </a:r>
              </a:p>
              <a:p>
                <a:pPr algn="just"/>
                <a:r>
                  <a:rPr lang="es-ES" sz="1200" dirty="0">
                    <a:latin typeface="Arial" panose="020B0604020202020204" pitchFamily="34" charset="0"/>
                    <a:cs typeface="Arial" panose="020B0604020202020204" pitchFamily="34" charset="0"/>
                  </a:rPr>
                  <a:t>El ER es la diferencia entre el pico y el mínimo de una misma curva en dB, obteniendo aproximadamente 1.3 dB en el caso 1, y 0.5 dB en el caso 2, quedando bastante alejado de los 70 dB de un MZI ideal.</a:t>
                </a:r>
              </a:p>
              <a:p>
                <a:pPr algn="just"/>
                <a:r>
                  <a:rPr lang="es-ES" sz="1200" dirty="0">
                    <a:latin typeface="Arial" panose="020B0604020202020204" pitchFamily="34" charset="0"/>
                    <a:cs typeface="Arial" panose="020B0604020202020204" pitchFamily="34" charset="0"/>
                  </a:rPr>
                  <a:t>Para obtener el </a:t>
                </a:r>
                <a:r>
                  <a:rPr lang="es-ES" sz="1200" dirty="0" err="1">
                    <a:latin typeface="Arial" panose="020B0604020202020204" pitchFamily="34" charset="0"/>
                    <a:cs typeface="Arial" panose="020B0604020202020204" pitchFamily="34" charset="0"/>
                  </a:rPr>
                  <a:t>ka</a:t>
                </a:r>
                <a:r>
                  <a:rPr lang="es-ES" sz="1200" dirty="0">
                    <a:latin typeface="Arial" panose="020B0604020202020204" pitchFamily="34" charset="0"/>
                    <a:cs typeface="Arial" panose="020B0604020202020204" pitchFamily="34" charset="0"/>
                  </a:rPr>
                  <a:t> necesario para contrarrestar las pérdidas se calculan las pérdidas totales: 4 dB/cm * 5.596 cm = 22.384 dB.</a:t>
                </a:r>
              </a:p>
              <a:p>
                <a:pPr algn="just"/>
                <a:r>
                  <a:rPr lang="es-ES" sz="1200" dirty="0">
                    <a:latin typeface="Arial" panose="020B0604020202020204" pitchFamily="34" charset="0"/>
                    <a:cs typeface="Arial" panose="020B0604020202020204" pitchFamily="34" charset="0"/>
                  </a:rPr>
                  <a:t>Posteriormente se calcula </a:t>
                </a:r>
                <a14:m>
                  <m:oMath xmlns:m="http://schemas.openxmlformats.org/officeDocument/2006/math">
                    <m:sSup>
                      <m:sSupPr>
                        <m:ctrlPr>
                          <a:rPr lang="es-ES" sz="1200" i="1" smtClean="0">
                            <a:latin typeface="Cambria Math" panose="02040503050406030204" pitchFamily="18" charset="0"/>
                            <a:cs typeface="Arial" panose="020B0604020202020204" pitchFamily="34" charset="0"/>
                          </a:rPr>
                        </m:ctrlPr>
                      </m:sSupPr>
                      <m:e>
                        <m:r>
                          <a:rPr lang="es-ES" sz="1200" i="1">
                            <a:latin typeface="Cambria Math" panose="02040503050406030204" pitchFamily="18" charset="0"/>
                            <a:cs typeface="Arial" panose="020B0604020202020204" pitchFamily="34" charset="0"/>
                          </a:rPr>
                          <m:t>𝛼</m:t>
                        </m:r>
                      </m:e>
                      <m:sup>
                        <m:r>
                          <a:rPr lang="es-ES" sz="1200" b="0" i="1" smtClean="0">
                            <a:latin typeface="Cambria Math" panose="02040503050406030204" pitchFamily="18" charset="0"/>
                            <a:cs typeface="Arial" panose="020B0604020202020204" pitchFamily="34" charset="0"/>
                          </a:rPr>
                          <m:t>−22.384/10</m:t>
                        </m:r>
                      </m:sup>
                    </m:sSup>
                    <m:r>
                      <a:rPr lang="es-ES" sz="1200" b="0" i="1" smtClean="0">
                        <a:latin typeface="Cambria Math" panose="02040503050406030204" pitchFamily="18" charset="0"/>
                        <a:cs typeface="Arial" panose="020B0604020202020204" pitchFamily="34" charset="0"/>
                      </a:rPr>
                      <m:t>=0.00577</m:t>
                    </m:r>
                  </m:oMath>
                </a14:m>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Finalmente se calcula Ka = 1/1+𝜶 = 0.0042</a:t>
                </a:r>
              </a:p>
            </p:txBody>
          </p:sp>
        </mc:Choice>
        <mc:Fallback>
          <p:sp>
            <p:nvSpPr>
              <p:cNvPr id="8" name="CuadroTexto 7">
                <a:extLst>
                  <a:ext uri="{FF2B5EF4-FFF2-40B4-BE49-F238E27FC236}">
                    <a16:creationId xmlns:a16="http://schemas.microsoft.com/office/drawing/2014/main" id="{44B58534-54A6-9E43-8205-5457D4504CCA}"/>
                  </a:ext>
                </a:extLst>
              </p:cNvPr>
              <p:cNvSpPr txBox="1">
                <a:spLocks noRot="1" noChangeAspect="1" noMove="1" noResize="1" noEditPoints="1" noAdjustHandles="1" noChangeArrowheads="1" noChangeShapeType="1" noTextEdit="1"/>
              </p:cNvSpPr>
              <p:nvPr/>
            </p:nvSpPr>
            <p:spPr>
              <a:xfrm>
                <a:off x="228600" y="1371600"/>
                <a:ext cx="5410201" cy="3977243"/>
              </a:xfrm>
              <a:prstGeom prst="rect">
                <a:avLst/>
              </a:prstGeom>
              <a:blipFill>
                <a:blip r:embed="rId5"/>
                <a:stretch>
                  <a:fillRect l="-113" t="-153" b="-307"/>
                </a:stretch>
              </a:blipFill>
            </p:spPr>
            <p:txBody>
              <a:bodyPr/>
              <a:lstStyle/>
              <a:p>
                <a:r>
                  <a:rPr lang="es-ES">
                    <a:noFill/>
                  </a:rPr>
                  <a:t> </a:t>
                </a:r>
              </a:p>
            </p:txBody>
          </p:sp>
        </mc:Fallback>
      </mc:AlternateContent>
    </p:spTree>
    <p:extLst>
      <p:ext uri="{BB962C8B-B14F-4D97-AF65-F5344CB8AC3E}">
        <p14:creationId xmlns:p14="http://schemas.microsoft.com/office/powerpoint/2010/main" val="2980378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11</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spTree>
    <p:extLst>
      <p:ext uri="{BB962C8B-B14F-4D97-AF65-F5344CB8AC3E}">
        <p14:creationId xmlns:p14="http://schemas.microsoft.com/office/powerpoint/2010/main" val="54318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7CD3A-378A-4949-D81A-D94C0873486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599EBDC-53DF-1D9E-98CC-B7B61ABF5EC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#4 – Ring Resonator</a:t>
            </a:r>
          </a:p>
        </p:txBody>
      </p:sp>
      <p:pic>
        <p:nvPicPr>
          <p:cNvPr id="83" name="Gráfico 82">
            <a:extLst>
              <a:ext uri="{FF2B5EF4-FFF2-40B4-BE49-F238E27FC236}">
                <a16:creationId xmlns:a16="http://schemas.microsoft.com/office/drawing/2014/main" id="{20DB9D6A-983E-5B05-908C-DB90C86B4D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4B08E71-D6FF-FC2B-030B-1F5761A8FA5A}"/>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C190C0DE-1624-89A4-91C1-EEA3AD098109}"/>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CuadroTexto 4">
            <a:extLst>
              <a:ext uri="{FF2B5EF4-FFF2-40B4-BE49-F238E27FC236}">
                <a16:creationId xmlns:a16="http://schemas.microsoft.com/office/drawing/2014/main" id="{8AB34D49-C3C7-0F45-DA5C-25D2D75FE9FB}"/>
              </a:ext>
            </a:extLst>
          </p:cNvPr>
          <p:cNvSpPr txBox="1"/>
          <p:nvPr/>
        </p:nvSpPr>
        <p:spPr>
          <a:xfrm>
            <a:off x="1402080" y="4602060"/>
            <a:ext cx="9281160" cy="1015663"/>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La función de transferencia se mantiene constante en la mayor parte de la curva, obteniendo valles estrechos de forma periódica cada FSR. Esto provoca el efecto de que le luz pasa de lago por la guía en la mayoría de longitudes de onda.</a:t>
            </a:r>
          </a:p>
          <a:p>
            <a:pPr algn="just"/>
            <a:r>
              <a:rPr lang="es-ES" sz="1200" dirty="0">
                <a:latin typeface="Arial" panose="020B0604020202020204" pitchFamily="34" charset="0"/>
                <a:cs typeface="Arial" panose="020B0604020202020204" pitchFamily="34" charset="0"/>
              </a:rPr>
              <a:t>Como puede observarse en la gráfica, la distancia entre valles es de aproximadamente 24 nm, que coincide con el valor teórico que debería tener la FSR para un perímetro de anillo de 50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con valores de ng = 2 y </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 = 1.55 </a:t>
            </a:r>
            <a:r>
              <a:rPr lang="es-ES" sz="1200" dirty="0" err="1">
                <a:latin typeface="Arial" panose="020B0604020202020204" pitchFamily="34" charset="0"/>
                <a:cs typeface="Arial" panose="020B0604020202020204" pitchFamily="34" charset="0"/>
              </a:rPr>
              <a:t>um</a:t>
            </a:r>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B2F36F08-6F75-2335-9F24-9B180FD04EB9}"/>
                  </a:ext>
                </a:extLst>
              </p:cNvPr>
              <p:cNvSpPr txBox="1"/>
              <p:nvPr/>
            </p:nvSpPr>
            <p:spPr>
              <a:xfrm>
                <a:off x="2885440" y="5441126"/>
                <a:ext cx="6126480" cy="495264"/>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sSup>
                            <m:sSupPr>
                              <m:ctrlPr>
                                <a:rPr lang="el-GR" sz="1200" i="1" smtClean="0">
                                  <a:latin typeface="Cambria Math" panose="02040503050406030204" pitchFamily="18" charset="0"/>
                                  <a:cs typeface="Arial" panose="020B0604020202020204" pitchFamily="34" charset="0"/>
                                </a:rPr>
                              </m:ctrlPr>
                            </m:sSupPr>
                            <m:e>
                              <m:r>
                                <a:rPr lang="el-GR" sz="1200" i="1">
                                  <a:latin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𝑛𝑔</m:t>
                          </m:r>
                          <m:r>
                            <a:rPr lang="es-ES" sz="1200" b="0" i="1" smtClean="0">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𝐿</m:t>
                          </m:r>
                        </m:den>
                      </m:f>
                    </m:oMath>
                  </m:oMathPara>
                </a14:m>
                <a:endParaRPr lang="en-US" sz="1200" dirty="0">
                  <a:latin typeface="Arial" panose="020B0604020202020204" pitchFamily="34" charset="0"/>
                  <a:cs typeface="Arial" panose="020B0604020202020204" pitchFamily="34" charset="0"/>
                </a:endParaRPr>
              </a:p>
            </p:txBody>
          </p:sp>
        </mc:Choice>
        <mc:Fallback>
          <p:sp>
            <p:nvSpPr>
              <p:cNvPr id="7" name="CuadroTexto 6">
                <a:extLst>
                  <a:ext uri="{FF2B5EF4-FFF2-40B4-BE49-F238E27FC236}">
                    <a16:creationId xmlns:a16="http://schemas.microsoft.com/office/drawing/2014/main" id="{B2F36F08-6F75-2335-9F24-9B180FD04EB9}"/>
                  </a:ext>
                </a:extLst>
              </p:cNvPr>
              <p:cNvSpPr txBox="1">
                <a:spLocks noRot="1" noChangeAspect="1" noMove="1" noResize="1" noEditPoints="1" noAdjustHandles="1" noChangeArrowheads="1" noChangeShapeType="1" noTextEdit="1"/>
              </p:cNvSpPr>
              <p:nvPr/>
            </p:nvSpPr>
            <p:spPr>
              <a:xfrm>
                <a:off x="2885440" y="5441126"/>
                <a:ext cx="6126480" cy="495264"/>
              </a:xfrm>
              <a:prstGeom prst="rect">
                <a:avLst/>
              </a:prstGeom>
              <a:blipFill>
                <a:blip r:embed="rId4"/>
                <a:stretch>
                  <a:fillRect/>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7A4979E6-5F82-653A-0EC8-19D7D845A338}"/>
              </a:ext>
            </a:extLst>
          </p:cNvPr>
          <p:cNvPicPr>
            <a:picLocks noChangeAspect="1"/>
          </p:cNvPicPr>
          <p:nvPr/>
        </p:nvPicPr>
        <p:blipFill>
          <a:blip r:embed="rId5"/>
          <a:stretch>
            <a:fillRect/>
          </a:stretch>
        </p:blipFill>
        <p:spPr>
          <a:xfrm>
            <a:off x="3031385" y="945982"/>
            <a:ext cx="6129230" cy="3516523"/>
          </a:xfrm>
          <a:prstGeom prst="rect">
            <a:avLst/>
          </a:prstGeom>
        </p:spPr>
      </p:pic>
    </p:spTree>
    <p:extLst>
      <p:ext uri="{BB962C8B-B14F-4D97-AF65-F5344CB8AC3E}">
        <p14:creationId xmlns:p14="http://schemas.microsoft.com/office/powerpoint/2010/main" val="221866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13</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5536543" y="2494307"/>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err="1"/>
              <a:t>Logaritmic</a:t>
            </a:r>
            <a:r>
              <a:rPr lang="es-ES" sz="2000" dirty="0"/>
              <a:t> </a:t>
            </a:r>
            <a:r>
              <a:rPr lang="es-ES" sz="2000" dirty="0" err="1"/>
              <a:t>units</a:t>
            </a:r>
            <a:endParaRPr lang="en-US" sz="2000" dirty="0"/>
          </a:p>
        </p:txBody>
      </p:sp>
      <p:sp>
        <p:nvSpPr>
          <p:cNvPr id="13" name="Rectángulo 12">
            <a:extLst>
              <a:ext uri="{FF2B5EF4-FFF2-40B4-BE49-F238E27FC236}">
                <a16:creationId xmlns:a16="http://schemas.microsoft.com/office/drawing/2014/main" id="{03798D61-1E16-8473-BDCE-1D97F95EF7BE}"/>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spTree>
    <p:extLst>
      <p:ext uri="{BB962C8B-B14F-4D97-AF65-F5344CB8AC3E}">
        <p14:creationId xmlns:p14="http://schemas.microsoft.com/office/powerpoint/2010/main" val="2915989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BFFD-C38C-C65C-F6DF-F428C9F8A16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75753EA-9947-25B0-DBF9-5CE0DF5D718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#5 – Ring resonator design</a:t>
            </a:r>
          </a:p>
        </p:txBody>
      </p:sp>
      <p:pic>
        <p:nvPicPr>
          <p:cNvPr id="83" name="Gráfico 82">
            <a:extLst>
              <a:ext uri="{FF2B5EF4-FFF2-40B4-BE49-F238E27FC236}">
                <a16:creationId xmlns:a16="http://schemas.microsoft.com/office/drawing/2014/main" id="{5A78D6E7-1EA1-BD86-5486-EF95566CF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82543BE-32D9-1FF6-AD49-DE70B17AB20B}"/>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96643153-8B94-89A2-70E4-7C93EBC97027}"/>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CuadroTexto 4">
            <a:extLst>
              <a:ext uri="{FF2B5EF4-FFF2-40B4-BE49-F238E27FC236}">
                <a16:creationId xmlns:a16="http://schemas.microsoft.com/office/drawing/2014/main" id="{62DBF7B0-A3CA-60DC-47F0-0009D114EBFF}"/>
              </a:ext>
            </a:extLst>
          </p:cNvPr>
          <p:cNvSpPr txBox="1"/>
          <p:nvPr/>
        </p:nvSpPr>
        <p:spPr>
          <a:xfrm>
            <a:off x="1402080" y="4602060"/>
            <a:ext cx="9281160" cy="646331"/>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En este caso obtenemos la misma gráfica que en el caso anterior a diferencia de que la distancia entre valles ha cambiado. Se ha fijado una FSR de 15 nm, por lo que se puede observar que la distancia entre valles es aproximadamente de 15 nm. Esa FSR provoca una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de aproximadamente 80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para los valores de n= =2 y </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 = 1.55 </a:t>
            </a:r>
            <a:r>
              <a:rPr lang="es-ES" sz="1200" dirty="0" err="1">
                <a:latin typeface="Arial" panose="020B0604020202020204" pitchFamily="34" charset="0"/>
                <a:cs typeface="Arial" panose="020B0604020202020204" pitchFamily="34" charset="0"/>
              </a:rPr>
              <a:t>um</a:t>
            </a:r>
            <a:endParaRPr lang="es-ES" sz="12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061EC9B2-2054-C326-0EE6-24C7C40A755A}"/>
                  </a:ext>
                </a:extLst>
              </p:cNvPr>
              <p:cNvSpPr txBox="1"/>
              <p:nvPr/>
            </p:nvSpPr>
            <p:spPr>
              <a:xfrm>
                <a:off x="2885440" y="5441126"/>
                <a:ext cx="6126480" cy="495264"/>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sSup>
                            <m:sSupPr>
                              <m:ctrlPr>
                                <a:rPr lang="el-GR" sz="1200" i="1" smtClean="0">
                                  <a:latin typeface="Cambria Math" panose="02040503050406030204" pitchFamily="18" charset="0"/>
                                  <a:cs typeface="Arial" panose="020B0604020202020204" pitchFamily="34" charset="0"/>
                                </a:rPr>
                              </m:ctrlPr>
                            </m:sSupPr>
                            <m:e>
                              <m:r>
                                <a:rPr lang="el-GR" sz="1200" i="1">
                                  <a:latin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𝑛𝑔</m:t>
                          </m:r>
                          <m:r>
                            <a:rPr lang="es-ES" sz="1200" b="0" i="1" smtClean="0">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𝐿</m:t>
                          </m:r>
                        </m:den>
                      </m:f>
                    </m:oMath>
                  </m:oMathPara>
                </a14:m>
                <a:endParaRPr lang="en-US" sz="1200" dirty="0">
                  <a:latin typeface="Arial" panose="020B0604020202020204" pitchFamily="34" charset="0"/>
                  <a:cs typeface="Arial" panose="020B0604020202020204" pitchFamily="34" charset="0"/>
                </a:endParaRPr>
              </a:p>
            </p:txBody>
          </p:sp>
        </mc:Choice>
        <mc:Fallback>
          <p:sp>
            <p:nvSpPr>
              <p:cNvPr id="7" name="CuadroTexto 6">
                <a:extLst>
                  <a:ext uri="{FF2B5EF4-FFF2-40B4-BE49-F238E27FC236}">
                    <a16:creationId xmlns:a16="http://schemas.microsoft.com/office/drawing/2014/main" id="{061EC9B2-2054-C326-0EE6-24C7C40A755A}"/>
                  </a:ext>
                </a:extLst>
              </p:cNvPr>
              <p:cNvSpPr txBox="1">
                <a:spLocks noRot="1" noChangeAspect="1" noMove="1" noResize="1" noEditPoints="1" noAdjustHandles="1" noChangeArrowheads="1" noChangeShapeType="1" noTextEdit="1"/>
              </p:cNvSpPr>
              <p:nvPr/>
            </p:nvSpPr>
            <p:spPr>
              <a:xfrm>
                <a:off x="2885440" y="5441126"/>
                <a:ext cx="6126480" cy="495264"/>
              </a:xfrm>
              <a:prstGeom prst="rect">
                <a:avLst/>
              </a:prstGeom>
              <a:blipFill>
                <a:blip r:embed="rId4"/>
                <a:stretch>
                  <a:fillRect/>
                </a:stretch>
              </a:blipFill>
            </p:spPr>
            <p:txBody>
              <a:bodyPr/>
              <a:lstStyle/>
              <a:p>
                <a:r>
                  <a:rPr lang="es-ES">
                    <a:noFill/>
                  </a:rPr>
                  <a:t> </a:t>
                </a:r>
              </a:p>
            </p:txBody>
          </p:sp>
        </mc:Fallback>
      </mc:AlternateContent>
      <p:pic>
        <p:nvPicPr>
          <p:cNvPr id="2" name="Imagen 1">
            <a:extLst>
              <a:ext uri="{FF2B5EF4-FFF2-40B4-BE49-F238E27FC236}">
                <a16:creationId xmlns:a16="http://schemas.microsoft.com/office/drawing/2014/main" id="{C9C97059-F431-1C84-A642-88353364A68D}"/>
              </a:ext>
            </a:extLst>
          </p:cNvPr>
          <p:cNvPicPr>
            <a:picLocks noChangeAspect="1"/>
          </p:cNvPicPr>
          <p:nvPr/>
        </p:nvPicPr>
        <p:blipFill>
          <a:blip r:embed="rId5"/>
          <a:stretch>
            <a:fillRect/>
          </a:stretch>
        </p:blipFill>
        <p:spPr>
          <a:xfrm>
            <a:off x="3095537" y="1143000"/>
            <a:ext cx="5856094" cy="3359817"/>
          </a:xfrm>
          <a:prstGeom prst="rect">
            <a:avLst/>
          </a:prstGeom>
        </p:spPr>
      </p:pic>
    </p:spTree>
    <p:extLst>
      <p:ext uri="{BB962C8B-B14F-4D97-AF65-F5344CB8AC3E}">
        <p14:creationId xmlns:p14="http://schemas.microsoft.com/office/powerpoint/2010/main" val="208696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a:t>K=</a:t>
            </a:r>
            <a:endParaRPr lang="en-US" sz="2000" dirty="0"/>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spTree>
    <p:extLst>
      <p:ext uri="{BB962C8B-B14F-4D97-AF65-F5344CB8AC3E}">
        <p14:creationId xmlns:p14="http://schemas.microsoft.com/office/powerpoint/2010/main" val="193162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52C6E-451D-6F4C-4FA8-B4261FCAD39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EB6D3FC-53F8-D78B-42E2-2B0EBEFDB16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#6a – Effect of K </a:t>
            </a:r>
          </a:p>
        </p:txBody>
      </p:sp>
      <p:pic>
        <p:nvPicPr>
          <p:cNvPr id="83" name="Gráfico 82">
            <a:extLst>
              <a:ext uri="{FF2B5EF4-FFF2-40B4-BE49-F238E27FC236}">
                <a16:creationId xmlns:a16="http://schemas.microsoft.com/office/drawing/2014/main" id="{2D813315-2BA3-0BB2-60FC-03D8890A76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5835E64-327C-9298-29A5-80667CF9C034}"/>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25C810F4-9FDD-D198-0AFA-EFC5C917475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8" name="CuadroTexto 7">
            <a:extLst>
              <a:ext uri="{FF2B5EF4-FFF2-40B4-BE49-F238E27FC236}">
                <a16:creationId xmlns:a16="http://schemas.microsoft.com/office/drawing/2014/main" id="{1FF87BB1-22E3-F432-2CEE-CFA950BC2AA3}"/>
              </a:ext>
            </a:extLst>
          </p:cNvPr>
          <p:cNvSpPr txBox="1"/>
          <p:nvPr/>
        </p:nvSpPr>
        <p:spPr>
          <a:xfrm>
            <a:off x="228600" y="1371600"/>
            <a:ext cx="5410201" cy="3970318"/>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En estas gráficas se puede observar las diferentes funciones de transferencia obtenidas haciendo un barrido de k desde 0.1 hasta 0.9.</a:t>
            </a:r>
          </a:p>
          <a:p>
            <a:pPr algn="just"/>
            <a:r>
              <a:rPr lang="es-ES" sz="1200" dirty="0">
                <a:latin typeface="Arial" panose="020B0604020202020204" pitchFamily="34" charset="0"/>
                <a:cs typeface="Arial" panose="020B0604020202020204" pitchFamily="34" charset="0"/>
              </a:rPr>
              <a:t>Para valores bajos de acoplamiento (0.1 o 0.2) las resonancias son valles muy estrechos y agudos con alto factor de calidad Q. Los valles caen hasta cas tocar el 0.</a:t>
            </a:r>
          </a:p>
          <a:p>
            <a:pPr algn="just"/>
            <a:r>
              <a:rPr lang="es-ES" sz="1200" dirty="0">
                <a:latin typeface="Arial" panose="020B0604020202020204" pitchFamily="34" charset="0"/>
                <a:cs typeface="Arial" panose="020B0604020202020204" pitchFamily="34" charset="0"/>
              </a:rPr>
              <a:t>Por otro lado, para valores altos de acoplamiento (mayores a 0.5) las resonancias se vuelven muy anchas y pocos profundas. También se observa como el techo de la transmisión empieza a caer notablemente por debajo de 1.0, ya que la luz escapa del acoplador enseguida disminuyendo el tiempo de confinamiento y haciendo que el filtro sea mucho menos selectivo.</a:t>
            </a:r>
          </a:p>
          <a:p>
            <a:pPr algn="just"/>
            <a:r>
              <a:rPr lang="es-ES" sz="1200" dirty="0">
                <a:latin typeface="Arial" panose="020B0604020202020204" pitchFamily="34" charset="0"/>
                <a:cs typeface="Arial" panose="020B0604020202020204" pitchFamily="34" charset="0"/>
              </a:rPr>
              <a:t>Observando la gráfica, el dispositivo se encuentra prácticamente en acoplamiento crítico en el caso de K = 0.2. En la gráfica logarítmica, se puede apreciar que la curva azul es la que llega a un valor más cercano a -∞ (-36 dB).</a:t>
            </a:r>
          </a:p>
          <a:p>
            <a:pPr algn="just"/>
            <a:r>
              <a:rPr lang="es-ES" sz="1200" dirty="0">
                <a:latin typeface="Arial" panose="020B0604020202020204" pitchFamily="34" charset="0"/>
                <a:cs typeface="Arial" panose="020B0604020202020204" pitchFamily="34" charset="0"/>
              </a:rPr>
              <a:t>Podemos clasificar los regímenes del anillo en tres zonas diferentes sabiendo que el punto crítico se encuentra en k = 0.2:</a:t>
            </a:r>
            <a:br>
              <a:rPr lang="es-ES" sz="1200" dirty="0">
                <a:latin typeface="Arial" panose="020B0604020202020204" pitchFamily="34" charset="0"/>
                <a:cs typeface="Arial" panose="020B0604020202020204" pitchFamily="34" charset="0"/>
              </a:rPr>
            </a:br>
            <a:r>
              <a:rPr lang="es-ES" sz="1200" dirty="0">
                <a:latin typeface="Arial" panose="020B0604020202020204" pitchFamily="34" charset="0"/>
                <a:cs typeface="Arial" panose="020B0604020202020204" pitchFamily="34" charset="0"/>
              </a:rPr>
              <a:t>Bajo acoplamiento (K &lt; 0.2)</a:t>
            </a:r>
          </a:p>
          <a:p>
            <a:pPr algn="just"/>
            <a:r>
              <a:rPr lang="es-ES" sz="1200" dirty="0">
                <a:latin typeface="Arial" panose="020B0604020202020204" pitchFamily="34" charset="0"/>
                <a:cs typeface="Arial" panose="020B0604020202020204" pitchFamily="34" charset="0"/>
              </a:rPr>
              <a:t>Acoplamiento crítico (K = 0.2)</a:t>
            </a:r>
          </a:p>
          <a:p>
            <a:pPr algn="just"/>
            <a:r>
              <a:rPr lang="es-ES" sz="1200" dirty="0">
                <a:latin typeface="Arial" panose="020B0604020202020204" pitchFamily="34" charset="0"/>
                <a:cs typeface="Arial" panose="020B0604020202020204" pitchFamily="34" charset="0"/>
              </a:rPr>
              <a:t>Sobre acoplamiento (K &gt; 0.2)</a:t>
            </a:r>
          </a:p>
          <a:p>
            <a:pPr algn="just"/>
            <a:r>
              <a:rPr lang="es-ES" sz="1200" dirty="0">
                <a:latin typeface="Arial" panose="020B0604020202020204" pitchFamily="34" charset="0"/>
                <a:cs typeface="Arial" panose="020B0604020202020204" pitchFamily="34" charset="0"/>
              </a:rPr>
              <a:t>En el resto de curvas (0.3 a 0.9) los valles se vuelven chatos y el dispositivo pierde su capacidad de filtrar de forma eficiente.</a:t>
            </a:r>
          </a:p>
        </p:txBody>
      </p:sp>
      <p:pic>
        <p:nvPicPr>
          <p:cNvPr id="2" name="Imagen 1">
            <a:extLst>
              <a:ext uri="{FF2B5EF4-FFF2-40B4-BE49-F238E27FC236}">
                <a16:creationId xmlns:a16="http://schemas.microsoft.com/office/drawing/2014/main" id="{C1FDC4AB-3E69-B391-7FA3-00D16F766290}"/>
              </a:ext>
            </a:extLst>
          </p:cNvPr>
          <p:cNvPicPr>
            <a:picLocks noChangeAspect="1"/>
          </p:cNvPicPr>
          <p:nvPr/>
        </p:nvPicPr>
        <p:blipFill>
          <a:blip r:embed="rId4"/>
          <a:stretch>
            <a:fillRect/>
          </a:stretch>
        </p:blipFill>
        <p:spPr>
          <a:xfrm>
            <a:off x="6065520" y="1143937"/>
            <a:ext cx="5786939" cy="4197981"/>
          </a:xfrm>
          <a:prstGeom prst="rect">
            <a:avLst/>
          </a:prstGeom>
        </p:spPr>
      </p:pic>
    </p:spTree>
    <p:extLst>
      <p:ext uri="{BB962C8B-B14F-4D97-AF65-F5344CB8AC3E}">
        <p14:creationId xmlns:p14="http://schemas.microsoft.com/office/powerpoint/2010/main" val="88468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6AA857E7-5C39-DCE1-10B5-40300FCF4B26}"/>
              </a:ext>
            </a:extLst>
          </p:cNvPr>
          <p:cNvSpPr/>
          <p:nvPr/>
        </p:nvSpPr>
        <p:spPr>
          <a:xfrm>
            <a:off x="3277315" y="1419036"/>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863650"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=0 dB/cm</a:t>
            </a:r>
            <a:endParaRPr lang="en-US" sz="2000" dirty="0"/>
          </a:p>
        </p:txBody>
      </p:sp>
      <p:sp>
        <p:nvSpPr>
          <p:cNvPr id="9" name="Rectángulo 8">
            <a:extLst>
              <a:ext uri="{FF2B5EF4-FFF2-40B4-BE49-F238E27FC236}">
                <a16:creationId xmlns:a16="http://schemas.microsoft.com/office/drawing/2014/main" id="{11F0F5FC-B571-59FC-7890-3105A6A843BB}"/>
              </a:ext>
            </a:extLst>
          </p:cNvPr>
          <p:cNvSpPr/>
          <p:nvPr/>
        </p:nvSpPr>
        <p:spPr>
          <a:xfrm>
            <a:off x="5943600"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3146642F-220B-8F6A-59A8-2D128DDF3BEB}"/>
              </a:ext>
            </a:extLst>
          </p:cNvPr>
          <p:cNvSpPr txBox="1"/>
          <p:nvPr/>
        </p:nvSpPr>
        <p:spPr>
          <a:xfrm>
            <a:off x="3529935" y="2104638"/>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=1 dB/cm</a:t>
            </a:r>
            <a:endParaRPr lang="en-US" sz="2000" dirty="0"/>
          </a:p>
        </p:txBody>
      </p:sp>
      <p:sp>
        <p:nvSpPr>
          <p:cNvPr id="13" name="CuadroTexto 12">
            <a:extLst>
              <a:ext uri="{FF2B5EF4-FFF2-40B4-BE49-F238E27FC236}">
                <a16:creationId xmlns:a16="http://schemas.microsoft.com/office/drawing/2014/main" id="{057C499E-829F-FB11-9128-843C937CB822}"/>
              </a:ext>
            </a:extLst>
          </p:cNvPr>
          <p:cNvSpPr txBox="1"/>
          <p:nvPr/>
        </p:nvSpPr>
        <p:spPr>
          <a:xfrm>
            <a:off x="6195187"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sp>
        <p:nvSpPr>
          <p:cNvPr id="12" name="Rectángulo 11">
            <a:extLst>
              <a:ext uri="{FF2B5EF4-FFF2-40B4-BE49-F238E27FC236}">
                <a16:creationId xmlns:a16="http://schemas.microsoft.com/office/drawing/2014/main" id="{D9D5941A-D9F5-22E7-7E85-0D04C2B214EC}"/>
              </a:ext>
            </a:extLst>
          </p:cNvPr>
          <p:cNvSpPr/>
          <p:nvPr/>
        </p:nvSpPr>
        <p:spPr>
          <a:xfrm>
            <a:off x="8609885" y="1418373"/>
            <a:ext cx="253855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4A6C8490-F65B-32C9-44E8-9A1A1A1B1769}"/>
              </a:ext>
            </a:extLst>
          </p:cNvPr>
          <p:cNvSpPr txBox="1"/>
          <p:nvPr/>
        </p:nvSpPr>
        <p:spPr>
          <a:xfrm>
            <a:off x="8861472" y="2101891"/>
            <a:ext cx="2033313" cy="1938992"/>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s-ES" sz="2000" dirty="0"/>
          </a:p>
          <a:p>
            <a:pPr algn="ctr"/>
            <a:endParaRPr lang="es-ES" sz="2000" dirty="0"/>
          </a:p>
          <a:p>
            <a:pPr algn="ctr"/>
            <a:r>
              <a:rPr lang="es-ES" sz="2000" dirty="0" err="1"/>
              <a:t>alpha</a:t>
            </a:r>
            <a:r>
              <a:rPr lang="es-ES" sz="2000" dirty="0"/>
              <a:t>=2 dB/cm</a:t>
            </a:r>
            <a:endParaRPr lang="en-US" sz="2000" dirty="0"/>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spTree>
    <p:extLst>
      <p:ext uri="{BB962C8B-B14F-4D97-AF65-F5344CB8AC3E}">
        <p14:creationId xmlns:p14="http://schemas.microsoft.com/office/powerpoint/2010/main" val="1461196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1013-B6DB-1CE7-2653-1B33AABC1B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2DD8A11-F4F7-8E7A-F574-56750D4C5C3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spcBef>
                <a:spcPts val="100"/>
              </a:spcBef>
            </a:pPr>
            <a:r>
              <a:rPr lang="en-US" sz="2500" dirty="0"/>
              <a:t>Learning outcome #6b – Effect of loss</a:t>
            </a:r>
          </a:p>
        </p:txBody>
      </p:sp>
      <p:pic>
        <p:nvPicPr>
          <p:cNvPr id="83" name="Gráfico 82">
            <a:extLst>
              <a:ext uri="{FF2B5EF4-FFF2-40B4-BE49-F238E27FC236}">
                <a16:creationId xmlns:a16="http://schemas.microsoft.com/office/drawing/2014/main" id="{2827AE4A-E060-6474-EFCE-0CA423F234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3718A71-8723-9304-01A7-7E9E63E27D68}"/>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4DF22BB6-5B12-DD9C-6483-D25D9C3BA732}"/>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8" name="CuadroTexto 7">
            <a:extLst>
              <a:ext uri="{FF2B5EF4-FFF2-40B4-BE49-F238E27FC236}">
                <a16:creationId xmlns:a16="http://schemas.microsoft.com/office/drawing/2014/main" id="{E5CB8E33-C019-B047-B520-0CA6F06D6E84}"/>
              </a:ext>
            </a:extLst>
          </p:cNvPr>
          <p:cNvSpPr txBox="1"/>
          <p:nvPr/>
        </p:nvSpPr>
        <p:spPr>
          <a:xfrm>
            <a:off x="228600" y="2262434"/>
            <a:ext cx="5410201" cy="2677656"/>
          </a:xfrm>
          <a:prstGeom prst="rect">
            <a:avLst/>
          </a:prstGeom>
          <a:noFill/>
        </p:spPr>
        <p:txBody>
          <a:bodyPr wrap="square">
            <a:spAutoFit/>
          </a:bodyPr>
          <a:lstStyle/>
          <a:p>
            <a:pPr algn="just"/>
            <a:r>
              <a:rPr lang="es-ES" sz="1200" dirty="0">
                <a:latin typeface="Arial" panose="020B0604020202020204" pitchFamily="34" charset="0"/>
                <a:cs typeface="Arial" panose="020B0604020202020204" pitchFamily="34" charset="0"/>
              </a:rPr>
              <a:t>En estas gráficas se puede observar las diferentes funciones de transferencia obtenidas haciendo un barrido de las pérdidas de la guía desde 0 hasta 8 dB/cm.</a:t>
            </a:r>
          </a:p>
          <a:p>
            <a:pPr algn="just"/>
            <a:r>
              <a:rPr lang="es-ES" sz="1200" dirty="0">
                <a:latin typeface="Arial" panose="020B0604020202020204" pitchFamily="34" charset="0"/>
                <a:cs typeface="Arial" panose="020B0604020202020204" pitchFamily="34" charset="0"/>
              </a:rPr>
              <a:t>El caso ideal es cuando no hay pérdidas. Se puede observar como la transmisión es una línea perfectamente recta y plana en 1.0 en lineal (0 en dB).</a:t>
            </a:r>
          </a:p>
          <a:p>
            <a:pPr algn="just"/>
            <a:r>
              <a:rPr lang="es-ES" sz="1200" dirty="0">
                <a:latin typeface="Arial" panose="020B0604020202020204" pitchFamily="34" charset="0"/>
                <a:cs typeface="Arial" panose="020B0604020202020204" pitchFamily="34" charset="0"/>
              </a:rPr>
              <a:t>Cuand se aumentan las pérdidas (de 1 a 8 dB/cm) los valles de resonancia comienzan a aparecer y a hacerse cada vez más profundos. Además, el techo fuera de la resonancia empieza a decaer ligeramente por debajo de 1.0.</a:t>
            </a:r>
          </a:p>
          <a:p>
            <a:pPr algn="just"/>
            <a:r>
              <a:rPr lang="es-ES" sz="1200" dirty="0">
                <a:latin typeface="Arial" panose="020B0604020202020204" pitchFamily="34" charset="0"/>
                <a:cs typeface="Arial" panose="020B0604020202020204" pitchFamily="34" charset="0"/>
              </a:rPr>
              <a:t>En este caso ninguna curva se encuentra en acoplamiento crítico, dado que en todas las curvas hay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debido a que al tener una longitud de anillo muy pequeño, hay muy pocas pérdidas en una vuelta en comparación ala luz que entra o sale del anillo</a:t>
            </a:r>
          </a:p>
        </p:txBody>
      </p:sp>
      <p:pic>
        <p:nvPicPr>
          <p:cNvPr id="4" name="Imagen 3">
            <a:extLst>
              <a:ext uri="{FF2B5EF4-FFF2-40B4-BE49-F238E27FC236}">
                <a16:creationId xmlns:a16="http://schemas.microsoft.com/office/drawing/2014/main" id="{80C14733-CC45-AB05-6B97-CB008DEE4753}"/>
              </a:ext>
            </a:extLst>
          </p:cNvPr>
          <p:cNvPicPr>
            <a:picLocks noChangeAspect="1"/>
          </p:cNvPicPr>
          <p:nvPr/>
        </p:nvPicPr>
        <p:blipFill>
          <a:blip r:embed="rId4"/>
          <a:stretch>
            <a:fillRect/>
          </a:stretch>
        </p:blipFill>
        <p:spPr>
          <a:xfrm>
            <a:off x="5942370" y="1295001"/>
            <a:ext cx="5883459" cy="4267998"/>
          </a:xfrm>
          <a:prstGeom prst="rect">
            <a:avLst/>
          </a:prstGeom>
        </p:spPr>
      </p:pic>
    </p:spTree>
    <p:extLst>
      <p:ext uri="{BB962C8B-B14F-4D97-AF65-F5344CB8AC3E}">
        <p14:creationId xmlns:p14="http://schemas.microsoft.com/office/powerpoint/2010/main" val="4235788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19</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1454</TotalTime>
  <Words>2170</Words>
  <Application>Microsoft Office PowerPoint</Application>
  <PresentationFormat>Panorámica</PresentationFormat>
  <Paragraphs>259</Paragraphs>
  <Slides>19</Slides>
  <Notes>10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#1a – Perfectly balanced MZI </vt:lpstr>
      <vt:lpstr>Learning outcome #1b – Unbalanced MZI </vt:lpstr>
      <vt:lpstr>Learning outcome #1b – Unbalanced MZI </vt:lpstr>
      <vt:lpstr>Presentación de PowerPoint</vt:lpstr>
      <vt:lpstr>Learning outcome #2 – MZI Design</vt:lpstr>
      <vt:lpstr>Presentación de PowerPoint</vt:lpstr>
      <vt:lpstr>Learning outcome #3 – Delay imbalance with loss</vt:lpstr>
      <vt:lpstr>Presentación de PowerPoint</vt:lpstr>
      <vt:lpstr>Learning outcome #4 – Ring Resonator</vt:lpstr>
      <vt:lpstr>Presentación de PowerPoint</vt:lpstr>
      <vt:lpstr>Learning outcome #5 – Ring resonator design</vt:lpstr>
      <vt:lpstr>Presentación de PowerPoint</vt:lpstr>
      <vt:lpstr>Learning outcome #6a – Effect of K </vt:lpstr>
      <vt:lpstr>Presentación de PowerPoint</vt:lpstr>
      <vt:lpstr>Learning outcome #6b – Effect of loss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Gabriel Manrique de Lara Rincon</cp:lastModifiedBy>
  <cp:revision>16</cp:revision>
  <dcterms:created xsi:type="dcterms:W3CDTF">2025-01-27T02:46:57Z</dcterms:created>
  <dcterms:modified xsi:type="dcterms:W3CDTF">2026-05-28T19:37:45Z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